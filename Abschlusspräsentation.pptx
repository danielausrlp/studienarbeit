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3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4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0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1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73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9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60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0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26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3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5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9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2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byz.me.uk/rpi/pigpio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vatlab.github.io/sos-docs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BB49AB5-AAC8-67DA-7DFC-DCD54A4BF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de-DE" sz="4100"/>
              <a:t>Studienarbeit</a:t>
            </a:r>
            <a:br>
              <a:rPr lang="de-DE" sz="4100"/>
            </a:br>
            <a:r>
              <a:rPr lang="de-DE" sz="4100"/>
              <a:t>Jupyter Notebooks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42BFB8-7A58-5CF3-D07A-AA3736850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von Daniel Tscherkaschin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ED401-C5CD-1E7C-522B-B2A32DF6C5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92" r="18348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07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243051-D691-8E66-2CA3-9DADC46D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sind </a:t>
            </a:r>
            <a:r>
              <a:rPr lang="de-DE" i="1" dirty="0" err="1"/>
              <a:t>Jupyter</a:t>
            </a:r>
            <a:r>
              <a:rPr lang="de-DE" i="1" dirty="0"/>
              <a:t> Notebooks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D6B833-729B-8201-1CD9-3CE46E7A7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Interaktive Entwicklungsumgebung</a:t>
            </a:r>
          </a:p>
          <a:p>
            <a:pPr lvl="1">
              <a:lnSpc>
                <a:spcPct val="150000"/>
              </a:lnSpc>
            </a:pPr>
            <a:r>
              <a:rPr lang="de-DE" dirty="0" err="1"/>
              <a:t>Jupyter</a:t>
            </a:r>
            <a:r>
              <a:rPr lang="de-DE" dirty="0"/>
              <a:t> Notebooks sind web-basierte Dokumente, in denen man </a:t>
            </a:r>
            <a:r>
              <a:rPr lang="de-DE" b="1" dirty="0"/>
              <a:t>Code schreiben, ausführen und Ergebnisse direkt sehen kann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Kombination aus Code und Dokumentation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Sie verbinden </a:t>
            </a:r>
            <a:r>
              <a:rPr lang="de-DE" b="1" dirty="0"/>
              <a:t>Code und Erläuterungstext</a:t>
            </a:r>
          </a:p>
          <a:p>
            <a:pPr>
              <a:lnSpc>
                <a:spcPct val="150000"/>
              </a:lnSpc>
            </a:pPr>
            <a:r>
              <a:rPr lang="de-DE" dirty="0"/>
              <a:t>Zellenbasiertes Arbeiten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Code und Text werden in </a:t>
            </a:r>
            <a:r>
              <a:rPr lang="de-DE" b="1" dirty="0"/>
              <a:t>einzelnen „Zellen“</a:t>
            </a:r>
            <a:r>
              <a:rPr lang="de-DE" dirty="0"/>
              <a:t> organisiert, die einzeln ausgeführt oder bearbeitet werden können</a:t>
            </a:r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F9484557-E329-78D0-A6B6-6D9CE76DF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6B25CAAF-C216-0F4B-117F-69C3D35F3A98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251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2314-AB86-9666-BF3F-A1644D2A4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598227-6DE0-D07D-1460-A46ACF3D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1" dirty="0" err="1"/>
              <a:t>Jupyter</a:t>
            </a:r>
            <a:r>
              <a:rPr lang="de-DE" i="1" dirty="0"/>
              <a:t> Notebooks </a:t>
            </a:r>
            <a:r>
              <a:rPr lang="de-DE" dirty="0"/>
              <a:t>Kernel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BAD7BA-4776-7E5C-243E-414049AE3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b="1" i="1" dirty="0" err="1"/>
              <a:t>Jupyter</a:t>
            </a:r>
            <a:r>
              <a:rPr lang="de-DE" b="1" i="1" dirty="0"/>
              <a:t> Notebooks </a:t>
            </a:r>
            <a:r>
              <a:rPr lang="de-DE" dirty="0"/>
              <a:t>nutzen sogenannte </a:t>
            </a:r>
            <a:r>
              <a:rPr lang="de-DE" i="1" dirty="0"/>
              <a:t>Kernels</a:t>
            </a:r>
            <a:endParaRPr lang="de-DE" dirty="0"/>
          </a:p>
          <a:p>
            <a:pPr lvl="1">
              <a:lnSpc>
                <a:spcPct val="150000"/>
              </a:lnSpc>
            </a:pPr>
            <a:r>
              <a:rPr lang="de-DE" dirty="0"/>
              <a:t>Jede Programmiersprache hat einen </a:t>
            </a:r>
            <a:r>
              <a:rPr lang="de-DE" i="1" dirty="0"/>
              <a:t>Kernel</a:t>
            </a:r>
          </a:p>
          <a:p>
            <a:pPr>
              <a:lnSpc>
                <a:spcPct val="150000"/>
              </a:lnSpc>
            </a:pPr>
            <a:r>
              <a:rPr lang="de-DE" dirty="0"/>
              <a:t>Standard-Kernel: </a:t>
            </a:r>
            <a:r>
              <a:rPr lang="de-DE" i="1" dirty="0" err="1"/>
              <a:t>ipykernel</a:t>
            </a:r>
            <a:r>
              <a:rPr lang="de-DE" dirty="0"/>
              <a:t> (Python)</a:t>
            </a:r>
          </a:p>
          <a:p>
            <a:pPr>
              <a:lnSpc>
                <a:spcPct val="150000"/>
              </a:lnSpc>
            </a:pPr>
            <a:r>
              <a:rPr lang="de-DE" dirty="0"/>
              <a:t>Installation von anderem Kernel möglich (</a:t>
            </a:r>
            <a:r>
              <a:rPr lang="de-DE" dirty="0" err="1"/>
              <a:t>xeus-cling</a:t>
            </a:r>
            <a:r>
              <a:rPr lang="de-DE" dirty="0"/>
              <a:t> für C++ z.B.)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SoS</a:t>
            </a:r>
            <a:r>
              <a:rPr lang="de-DE" dirty="0"/>
              <a:t>-Kernel für Nutzung von mehreren Programmiersprachen in einem Notebook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→ Exkurs </a:t>
            </a:r>
            <a:r>
              <a:rPr lang="de-DE" dirty="0" err="1"/>
              <a:t>SoS</a:t>
            </a:r>
            <a:r>
              <a:rPr lang="de-DE" dirty="0"/>
              <a:t>-Kernel</a:t>
            </a:r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E6FDD112-9305-821E-BB74-ED3C67DFD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pic>
        <p:nvPicPr>
          <p:cNvPr id="6" name="Grafik 5" descr="Ein Bild, das Clipart, Symbol, Grafiken, Cartoon enthält.&#10;&#10;KI-generierte Inhalte können fehlerhaft sein.">
            <a:extLst>
              <a:ext uri="{FF2B5EF4-FFF2-40B4-BE49-F238E27FC236}">
                <a16:creationId xmlns:a16="http://schemas.microsoft.com/office/drawing/2014/main" id="{2298081F-B892-886E-6F74-4F4DE1D8D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045" y="1542299"/>
            <a:ext cx="1016758" cy="101675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390DEDD-CE0A-E7F2-42DD-85303C745A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3806" y="2981014"/>
            <a:ext cx="2237095" cy="1143404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70F6449F-151B-A590-6A6D-FE5E4CF685F1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8521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E8A25-5879-57BA-ACB4-5D5D3C76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8F30F6-3DCB-70F0-889F-A141DD1C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arbeitet man mit </a:t>
            </a:r>
            <a:r>
              <a:rPr lang="de-DE" i="1" dirty="0" err="1"/>
              <a:t>Jupyter</a:t>
            </a:r>
            <a:r>
              <a:rPr lang="de-DE" i="1" dirty="0"/>
              <a:t> Notebooks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1182CB-FE2B-9FE0-1B3C-A081A5182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/>
              <a:t>Google </a:t>
            </a:r>
            <a:r>
              <a:rPr lang="de-DE" b="1" dirty="0" err="1"/>
              <a:t>Colab</a:t>
            </a:r>
            <a:r>
              <a:rPr lang="de-DE" b="1" dirty="0"/>
              <a:t> </a:t>
            </a:r>
            <a:r>
              <a:rPr lang="de-DE" dirty="0"/>
              <a:t>(</a:t>
            </a:r>
            <a:r>
              <a:rPr lang="de-DE" dirty="0">
                <a:hlinkClick r:id="rId2"/>
              </a:rPr>
              <a:t>https://colab.research.google.com/</a:t>
            </a:r>
            <a:r>
              <a:rPr lang="de-DE" dirty="0"/>
              <a:t>)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Ermöglicht, Code direkt in einer Linux-VM im Web-Browser auszuführen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Erstellen und Bearbeitung von Notebooks möglich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Jedoch nur </a:t>
            </a:r>
            <a:r>
              <a:rPr lang="de-DE" i="1" dirty="0" err="1"/>
              <a:t>ipykernel</a:t>
            </a:r>
            <a:r>
              <a:rPr lang="de-DE" dirty="0"/>
              <a:t>-Nutzung möglich</a:t>
            </a:r>
          </a:p>
          <a:p>
            <a:pPr lvl="1"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 err="1"/>
              <a:t>Jupyter</a:t>
            </a:r>
            <a:r>
              <a:rPr lang="de-DE" b="1" dirty="0"/>
              <a:t> Notebook Server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Code wird lokal auf dem Rechner ausgeführt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Raspberry Pi Beispiele</a:t>
            </a:r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20553667-9782-82BA-2137-11F2D8797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pic>
        <p:nvPicPr>
          <p:cNvPr id="6" name="Grafik 5" descr="Ein Bild, das Kreis, Grafiken, Cartoon enthält.&#10;&#10;KI-generierte Inhalte können fehlerhaft sein.">
            <a:extLst>
              <a:ext uri="{FF2B5EF4-FFF2-40B4-BE49-F238E27FC236}">
                <a16:creationId xmlns:a16="http://schemas.microsoft.com/office/drawing/2014/main" id="{F0FCF823-E5CA-F8F0-37E0-96DBDA6E53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722" y="1409135"/>
            <a:ext cx="1914095" cy="1914095"/>
          </a:xfrm>
          <a:prstGeom prst="rect">
            <a:avLst/>
          </a:prstGeom>
        </p:spPr>
      </p:pic>
      <p:pic>
        <p:nvPicPr>
          <p:cNvPr id="8" name="Grafik 7" descr="Ein Bild, das Grafiken, Schrift, Kreis, Grafikdesign enthält.&#10;&#10;KI-generierte Inhalte können fehlerhaft sein.">
            <a:extLst>
              <a:ext uri="{FF2B5EF4-FFF2-40B4-BE49-F238E27FC236}">
                <a16:creationId xmlns:a16="http://schemas.microsoft.com/office/drawing/2014/main" id="{17FADCBA-ACF3-B603-0287-08DD852889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446" y="3429000"/>
            <a:ext cx="1650907" cy="191409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22BCE43-0D4D-A3EC-DF1E-A868BF6D90BA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226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DEA1-4846-360E-A03B-F57DAD39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B57AD7-8E75-B01E-C5DF-662072BE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Übersicht erstellter </a:t>
            </a:r>
            <a:r>
              <a:rPr lang="de-DE" i="1" dirty="0"/>
              <a:t>Notebooks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CC9064-AB88-2FF3-95D8-B682B7BE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e-DE" dirty="0" err="1"/>
              <a:t>BenchmarkCPPvsPy</a:t>
            </a:r>
            <a:endParaRPr lang="de-DE" dirty="0"/>
          </a:p>
          <a:p>
            <a:pPr lvl="1">
              <a:lnSpc>
                <a:spcPct val="110000"/>
              </a:lnSpc>
            </a:pPr>
            <a:r>
              <a:rPr lang="de-DE" dirty="0"/>
              <a:t>Vergleicht die </a:t>
            </a:r>
            <a:r>
              <a:rPr lang="de-DE" b="1" dirty="0"/>
              <a:t>Laufzeit</a:t>
            </a:r>
            <a:r>
              <a:rPr lang="de-DE" dirty="0"/>
              <a:t> verschiedener Algorithmen von C++ und Python</a:t>
            </a:r>
          </a:p>
          <a:p>
            <a:pPr>
              <a:lnSpc>
                <a:spcPct val="110000"/>
              </a:lnSpc>
            </a:pPr>
            <a:r>
              <a:rPr lang="de-DE" dirty="0" err="1"/>
              <a:t>NetworkingUnix</a:t>
            </a:r>
            <a:endParaRPr lang="de-DE" dirty="0"/>
          </a:p>
          <a:p>
            <a:pPr lvl="1">
              <a:lnSpc>
                <a:spcPct val="110000"/>
              </a:lnSpc>
            </a:pPr>
            <a:r>
              <a:rPr lang="de-DE" dirty="0"/>
              <a:t>Erläutert die </a:t>
            </a:r>
            <a:r>
              <a:rPr lang="de-DE" b="1" dirty="0"/>
              <a:t>Socket-Programmierung</a:t>
            </a:r>
            <a:r>
              <a:rPr lang="de-DE" dirty="0"/>
              <a:t> unter UNIX/Linux</a:t>
            </a:r>
          </a:p>
          <a:p>
            <a:pPr>
              <a:lnSpc>
                <a:spcPct val="110000"/>
              </a:lnSpc>
            </a:pPr>
            <a:r>
              <a:rPr lang="de-DE" dirty="0" err="1"/>
              <a:t>SafeCPP</a:t>
            </a:r>
            <a:endParaRPr lang="de-DE" dirty="0"/>
          </a:p>
          <a:p>
            <a:pPr lvl="1">
              <a:lnSpc>
                <a:spcPct val="110000"/>
              </a:lnSpc>
            </a:pPr>
            <a:r>
              <a:rPr lang="de-DE" dirty="0"/>
              <a:t>Zeigt viele Beispiele von </a:t>
            </a:r>
            <a:r>
              <a:rPr lang="de-DE" b="1" dirty="0" err="1"/>
              <a:t>buggy</a:t>
            </a:r>
            <a:r>
              <a:rPr lang="de-DE" b="1" dirty="0"/>
              <a:t> und unsicheren</a:t>
            </a:r>
            <a:r>
              <a:rPr lang="de-DE" dirty="0"/>
              <a:t> C/C++ Code und deren Gegenmaßnahmen</a:t>
            </a:r>
          </a:p>
          <a:p>
            <a:pPr>
              <a:lnSpc>
                <a:spcPct val="110000"/>
              </a:lnSpc>
            </a:pPr>
            <a:r>
              <a:rPr lang="de-DE" dirty="0" err="1"/>
              <a:t>SmartPtrCPP</a:t>
            </a:r>
            <a:endParaRPr lang="de-DE" dirty="0"/>
          </a:p>
          <a:p>
            <a:pPr lvl="1">
              <a:lnSpc>
                <a:spcPct val="110000"/>
              </a:lnSpc>
            </a:pPr>
            <a:r>
              <a:rPr lang="de-DE" dirty="0"/>
              <a:t>Erklärt, wie man </a:t>
            </a:r>
            <a:r>
              <a:rPr lang="de-DE" b="1" i="1" dirty="0"/>
              <a:t>smart </a:t>
            </a:r>
            <a:r>
              <a:rPr lang="de-DE" b="1" i="1" dirty="0" err="1"/>
              <a:t>pointers</a:t>
            </a:r>
            <a:r>
              <a:rPr lang="de-DE" b="1" i="1" dirty="0"/>
              <a:t> </a:t>
            </a:r>
            <a:r>
              <a:rPr lang="de-DE" dirty="0"/>
              <a:t>in C++ benutzt</a:t>
            </a:r>
          </a:p>
          <a:p>
            <a:pPr>
              <a:lnSpc>
                <a:spcPct val="110000"/>
              </a:lnSpc>
            </a:pPr>
            <a:r>
              <a:rPr lang="de-DE" dirty="0" err="1"/>
              <a:t>pigpioC</a:t>
            </a:r>
            <a:endParaRPr lang="de-DE" dirty="0"/>
          </a:p>
          <a:p>
            <a:pPr lvl="1">
              <a:lnSpc>
                <a:spcPct val="110000"/>
              </a:lnSpc>
            </a:pPr>
            <a:r>
              <a:rPr lang="de-DE" dirty="0"/>
              <a:t>Zeigt viele C/C++-Beispiele um GPIO-Pins eines Raspberry Pis zu steuern</a:t>
            </a:r>
          </a:p>
          <a:p>
            <a:pPr lvl="1">
              <a:lnSpc>
                <a:spcPct val="110000"/>
              </a:lnSpc>
            </a:pPr>
            <a:r>
              <a:rPr lang="de-DE" dirty="0"/>
              <a:t>Live-Vorstellung</a:t>
            </a:r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4405A513-821B-835A-B378-339B699FE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EFF74EE-13DA-8F94-D81A-ACA043D89F3E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54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5AF1-AE77-4627-51D0-9A39BCE5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C08414-A4F5-E9D0-CED8-4FD93685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BenchmarkCPPvsPY</a:t>
            </a:r>
            <a:endParaRPr lang="de-DE" i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8268DD-F05F-7068-6EF0-7F34FC4D4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Es werden zwei Algorithmen gezeigt</a:t>
            </a:r>
          </a:p>
          <a:p>
            <a:pPr lvl="1">
              <a:lnSpc>
                <a:spcPct val="150000"/>
              </a:lnSpc>
            </a:pPr>
            <a:r>
              <a:rPr lang="de-DE" i="1" dirty="0"/>
              <a:t>Rekursive Fibonacci Funktion</a:t>
            </a:r>
          </a:p>
          <a:p>
            <a:pPr lvl="1">
              <a:lnSpc>
                <a:spcPct val="150000"/>
              </a:lnSpc>
            </a:pPr>
            <a:r>
              <a:rPr lang="de-DE" i="1" dirty="0"/>
              <a:t>Primzahlen-Generator</a:t>
            </a:r>
          </a:p>
          <a:p>
            <a:pPr lvl="1"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/>
              <a:t>Laufzeit</a:t>
            </a:r>
            <a:r>
              <a:rPr lang="de-DE" dirty="0"/>
              <a:t> beider Algorithmen werden verglichen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Was passiert, falls die Komplexität erhöht wird?</a:t>
            </a:r>
          </a:p>
          <a:p>
            <a:pPr lvl="1"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Studierende sollen einen Algorithmus ihrer Wahl implementieren</a:t>
            </a:r>
          </a:p>
          <a:p>
            <a:pPr lvl="1">
              <a:lnSpc>
                <a:spcPct val="150000"/>
              </a:lnSpc>
            </a:pPr>
            <a:r>
              <a:rPr lang="de-DE" dirty="0"/>
              <a:t>Was kann man beobachten?</a:t>
            </a:r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EE6295F9-6B89-B327-D3E1-AD765E11A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851C93F-D8BE-5624-9C42-F734AE57F1EF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7577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251FA-3BEB-722C-8A09-A9E2EF365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02AEA-CCEA-C226-1AE9-0AF16756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NetworkingUnix</a:t>
            </a:r>
            <a:endParaRPr lang="de-DE" i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63F298-082C-2012-CFA1-E43411FEE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de-DE" b="1" dirty="0"/>
              <a:t>Socket-Programmierung</a:t>
            </a:r>
            <a:r>
              <a:rPr lang="de-DE" dirty="0"/>
              <a:t> unter UNIX/Linux</a:t>
            </a:r>
          </a:p>
          <a:p>
            <a:pPr lvl="1">
              <a:lnSpc>
                <a:spcPct val="200000"/>
              </a:lnSpc>
            </a:pPr>
            <a:r>
              <a:rPr lang="de-DE" i="1" dirty="0"/>
              <a:t>Ports und IP-Adressen, Interprozesskommunikation</a:t>
            </a:r>
          </a:p>
          <a:p>
            <a:pPr>
              <a:lnSpc>
                <a:spcPct val="200000"/>
              </a:lnSpc>
            </a:pPr>
            <a:r>
              <a:rPr lang="de-DE" dirty="0"/>
              <a:t>TCP Server / Client</a:t>
            </a:r>
          </a:p>
          <a:p>
            <a:pPr lvl="1">
              <a:lnSpc>
                <a:spcPct val="200000"/>
              </a:lnSpc>
            </a:pPr>
            <a:r>
              <a:rPr lang="de-DE" dirty="0"/>
              <a:t>Wie werden </a:t>
            </a:r>
            <a:r>
              <a:rPr lang="de-DE" i="1" dirty="0"/>
              <a:t>Nachrichten</a:t>
            </a:r>
            <a:r>
              <a:rPr lang="de-DE" dirty="0"/>
              <a:t> gesendet?</a:t>
            </a:r>
          </a:p>
          <a:p>
            <a:pPr>
              <a:lnSpc>
                <a:spcPct val="200000"/>
              </a:lnSpc>
            </a:pPr>
            <a:r>
              <a:rPr lang="de-DE" dirty="0"/>
              <a:t>HTTP Server</a:t>
            </a:r>
          </a:p>
          <a:p>
            <a:pPr>
              <a:lnSpc>
                <a:spcPct val="200000"/>
              </a:lnSpc>
            </a:pPr>
            <a:r>
              <a:rPr lang="de-DE" dirty="0"/>
              <a:t>Chat Server / Client</a:t>
            </a:r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223D6139-ACFC-71ED-C5CC-F95F38109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0CF7520E-3DF4-5D83-98CA-5EE6F8E0C1C9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6924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5D7BE-652E-540B-0A59-DC00136E9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88D48-E29F-C678-8687-0EC5B0BB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SafeCPP</a:t>
            </a:r>
            <a:endParaRPr lang="de-DE" i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D0D83B-F432-E5B5-6DA2-4A9F566FF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de-DE" dirty="0"/>
              <a:t>Häufige C/C++ Fehler werden gezeigt:</a:t>
            </a:r>
          </a:p>
          <a:p>
            <a:pPr lvl="1">
              <a:lnSpc>
                <a:spcPct val="200000"/>
              </a:lnSpc>
            </a:pPr>
            <a:r>
              <a:rPr lang="de-DE" i="1" dirty="0"/>
              <a:t>Buffer </a:t>
            </a:r>
            <a:r>
              <a:rPr lang="de-DE" i="1" dirty="0" err="1"/>
              <a:t>Overlow</a:t>
            </a:r>
            <a:endParaRPr lang="de-DE" i="1" dirty="0"/>
          </a:p>
          <a:p>
            <a:pPr lvl="1">
              <a:lnSpc>
                <a:spcPct val="200000"/>
              </a:lnSpc>
            </a:pPr>
            <a:r>
              <a:rPr lang="de-DE" i="1" dirty="0"/>
              <a:t>Fehlnutzung von Pointern</a:t>
            </a:r>
          </a:p>
          <a:p>
            <a:pPr lvl="1">
              <a:lnSpc>
                <a:spcPct val="200000"/>
              </a:lnSpc>
            </a:pPr>
            <a:r>
              <a:rPr lang="de-DE" i="1" dirty="0"/>
              <a:t>Out-</a:t>
            </a:r>
            <a:r>
              <a:rPr lang="de-DE" i="1" dirty="0" err="1"/>
              <a:t>of</a:t>
            </a:r>
            <a:r>
              <a:rPr lang="de-DE" i="1" dirty="0"/>
              <a:t>-</a:t>
            </a:r>
            <a:r>
              <a:rPr lang="de-DE" i="1" dirty="0" err="1"/>
              <a:t>bounds</a:t>
            </a:r>
            <a:r>
              <a:rPr lang="de-DE" i="1" dirty="0"/>
              <a:t> Read/Write</a:t>
            </a:r>
          </a:p>
          <a:p>
            <a:pPr lvl="1">
              <a:lnSpc>
                <a:spcPct val="200000"/>
              </a:lnSpc>
            </a:pPr>
            <a:r>
              <a:rPr lang="de-DE" i="1" dirty="0"/>
              <a:t>Unsichere Funktionen</a:t>
            </a:r>
          </a:p>
          <a:p>
            <a:pPr>
              <a:lnSpc>
                <a:spcPct val="200000"/>
              </a:lnSpc>
            </a:pPr>
            <a:r>
              <a:rPr lang="de-DE" dirty="0"/>
              <a:t>Solche Fehler können zu </a:t>
            </a:r>
            <a:r>
              <a:rPr lang="de-DE" b="1" dirty="0"/>
              <a:t>schwerwiegenden Sicherheitslücken</a:t>
            </a:r>
            <a:r>
              <a:rPr lang="de-DE" dirty="0"/>
              <a:t> führen</a:t>
            </a:r>
          </a:p>
          <a:p>
            <a:pPr lvl="1">
              <a:lnSpc>
                <a:spcPct val="200000"/>
              </a:lnSpc>
            </a:pPr>
            <a:r>
              <a:rPr lang="de-DE" dirty="0"/>
              <a:t>Werden leider zu selten diskutiert…</a:t>
            </a:r>
          </a:p>
          <a:p>
            <a:pPr>
              <a:lnSpc>
                <a:spcPct val="200000"/>
              </a:lnSpc>
            </a:pPr>
            <a:r>
              <a:rPr lang="de-DE" dirty="0"/>
              <a:t>Studierende sollen einen Code analysieren und Fehler beheben</a:t>
            </a:r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1676C219-1D1A-7B52-EF5E-7E2C40C64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85F96BD2-3189-6359-EBE2-84AE87284130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145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F496-45D6-D782-229C-48967DCCF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3A3EA6-E077-D953-1008-E3DCA894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SmartPtrCPP</a:t>
            </a:r>
            <a:endParaRPr lang="de-DE" i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5743B0-1DC0-89DF-75CA-2180C09D0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de-DE" dirty="0"/>
              <a:t>Gegenmaßnahme gegen Fehlnutzung von </a:t>
            </a:r>
            <a:r>
              <a:rPr lang="de-DE" i="1" dirty="0"/>
              <a:t>Pointern</a:t>
            </a:r>
          </a:p>
          <a:p>
            <a:pPr lvl="1">
              <a:lnSpc>
                <a:spcPct val="200000"/>
              </a:lnSpc>
            </a:pPr>
            <a:r>
              <a:rPr lang="de-DE" dirty="0"/>
              <a:t>Sind de facto </a:t>
            </a:r>
            <a:r>
              <a:rPr lang="de-DE" b="1" dirty="0"/>
              <a:t>Pflicht</a:t>
            </a:r>
            <a:r>
              <a:rPr lang="de-DE" dirty="0"/>
              <a:t> in modernen C++</a:t>
            </a:r>
          </a:p>
          <a:p>
            <a:pPr>
              <a:lnSpc>
                <a:spcPct val="200000"/>
              </a:lnSpc>
            </a:pPr>
            <a:r>
              <a:rPr lang="de-DE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std</a:t>
            </a:r>
            <a:r>
              <a:rPr lang="de-DE" dirty="0">
                <a:latin typeface="Fira Code" pitchFamily="1" charset="0"/>
                <a:ea typeface="Fira Code" pitchFamily="1" charset="0"/>
                <a:cs typeface="Fira Code" pitchFamily="1" charset="0"/>
              </a:rPr>
              <a:t>::</a:t>
            </a:r>
            <a:r>
              <a:rPr lang="de-DE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unique_ptr</a:t>
            </a:r>
            <a:r>
              <a:rPr lang="de-DE" dirty="0">
                <a:latin typeface="Fira Code" pitchFamily="1" charset="0"/>
                <a:ea typeface="Fira Code" pitchFamily="1" charset="0"/>
                <a:cs typeface="Fira Code" pitchFamily="1" charset="0"/>
              </a:rPr>
              <a:t>&lt;T&gt;</a:t>
            </a:r>
          </a:p>
          <a:p>
            <a:pPr>
              <a:lnSpc>
                <a:spcPct val="200000"/>
              </a:lnSpc>
            </a:pPr>
            <a:r>
              <a:rPr lang="de-DE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std</a:t>
            </a:r>
            <a:r>
              <a:rPr lang="de-DE" dirty="0">
                <a:latin typeface="Fira Code" pitchFamily="1" charset="0"/>
                <a:ea typeface="Fira Code" pitchFamily="1" charset="0"/>
                <a:cs typeface="Fira Code" pitchFamily="1" charset="0"/>
              </a:rPr>
              <a:t>::</a:t>
            </a:r>
            <a:r>
              <a:rPr lang="de-DE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shared_ptr</a:t>
            </a:r>
            <a:r>
              <a:rPr lang="de-DE" dirty="0">
                <a:latin typeface="Fira Code" pitchFamily="1" charset="0"/>
                <a:ea typeface="Fira Code" pitchFamily="1" charset="0"/>
                <a:cs typeface="Fira Code" pitchFamily="1" charset="0"/>
              </a:rPr>
              <a:t>&lt;T&gt;</a:t>
            </a:r>
          </a:p>
          <a:p>
            <a:pPr>
              <a:lnSpc>
                <a:spcPct val="200000"/>
              </a:lnSpc>
            </a:pPr>
            <a:r>
              <a:rPr lang="de-DE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std</a:t>
            </a:r>
            <a:r>
              <a:rPr lang="de-DE" dirty="0">
                <a:latin typeface="Fira Code" pitchFamily="1" charset="0"/>
                <a:ea typeface="Fira Code" pitchFamily="1" charset="0"/>
                <a:cs typeface="Fira Code" pitchFamily="1" charset="0"/>
              </a:rPr>
              <a:t>::</a:t>
            </a:r>
            <a:r>
              <a:rPr lang="de-DE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weak_ptr</a:t>
            </a:r>
            <a:r>
              <a:rPr lang="de-DE" dirty="0">
                <a:latin typeface="Fira Code" pitchFamily="1" charset="0"/>
                <a:ea typeface="Fira Code" pitchFamily="1" charset="0"/>
                <a:cs typeface="Fira Code" pitchFamily="1" charset="0"/>
              </a:rPr>
              <a:t>&lt;T&gt;</a:t>
            </a:r>
          </a:p>
          <a:p>
            <a:pPr>
              <a:lnSpc>
                <a:spcPct val="200000"/>
              </a:lnSpc>
            </a:pPr>
            <a:r>
              <a:rPr lang="de-DE" dirty="0"/>
              <a:t>Studierende sollen ihren eigenen </a:t>
            </a:r>
            <a:r>
              <a:rPr lang="de-DE" i="1" dirty="0"/>
              <a:t>smart </a:t>
            </a:r>
            <a:r>
              <a:rPr lang="de-DE" i="1" dirty="0" err="1"/>
              <a:t>pointer</a:t>
            </a:r>
            <a:r>
              <a:rPr lang="de-DE" i="1" dirty="0"/>
              <a:t> </a:t>
            </a:r>
            <a:r>
              <a:rPr lang="de-DE" dirty="0"/>
              <a:t>implementieren</a:t>
            </a:r>
          </a:p>
          <a:p>
            <a:pPr lvl="1">
              <a:lnSpc>
                <a:spcPct val="200000"/>
              </a:lnSpc>
            </a:pPr>
            <a:r>
              <a:rPr lang="de-DE" i="1" dirty="0"/>
              <a:t>Destruktor, Konstruktor, </a:t>
            </a:r>
            <a:r>
              <a:rPr lang="de-DE" i="1" dirty="0" err="1"/>
              <a:t>new</a:t>
            </a:r>
            <a:r>
              <a:rPr lang="de-DE" i="1" dirty="0"/>
              <a:t>, </a:t>
            </a:r>
            <a:r>
              <a:rPr lang="de-DE" i="1" dirty="0" err="1"/>
              <a:t>delete</a:t>
            </a:r>
            <a:r>
              <a:rPr lang="de-DE" i="1" dirty="0"/>
              <a:t>, …</a:t>
            </a:r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2C9BF4AE-84E2-6DCE-EC84-7105F88A3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7134725C-BC2A-D87C-97AB-DBC05AA815A4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14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B59D0-D101-0E22-D4B6-2FBE623B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148739-400A-3237-3140-A51FC3EB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pigpioC</a:t>
            </a:r>
            <a:endParaRPr lang="de-DE" i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555306-A88E-53ED-2242-501117EA7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de-DE" dirty="0"/>
              <a:t>Nutzung der </a:t>
            </a:r>
            <a:r>
              <a:rPr lang="de-DE" dirty="0" err="1"/>
              <a:t>pigpio</a:t>
            </a:r>
            <a:r>
              <a:rPr lang="de-DE" dirty="0"/>
              <a:t>-Library (</a:t>
            </a:r>
            <a:r>
              <a:rPr lang="de-DE" dirty="0">
                <a:hlinkClick r:id="rId2"/>
              </a:rPr>
              <a:t>https://abyz.me.uk/rpi/pigpio/</a:t>
            </a:r>
            <a:r>
              <a:rPr lang="de-DE" dirty="0"/>
              <a:t>)</a:t>
            </a:r>
          </a:p>
          <a:p>
            <a:pPr>
              <a:lnSpc>
                <a:spcPct val="250000"/>
              </a:lnSpc>
            </a:pPr>
            <a:r>
              <a:rPr lang="de-DE" dirty="0"/>
              <a:t>Installationsskript steht zur Verfügung</a:t>
            </a:r>
          </a:p>
          <a:p>
            <a:pPr lvl="1">
              <a:lnSpc>
                <a:spcPct val="250000"/>
              </a:lnSpc>
            </a:pPr>
            <a:r>
              <a:rPr lang="de-DE" dirty="0"/>
              <a:t>Installiert </a:t>
            </a:r>
            <a:r>
              <a:rPr lang="de-DE" i="1" dirty="0" err="1"/>
              <a:t>jupyter</a:t>
            </a:r>
            <a:r>
              <a:rPr lang="de-DE" i="1" dirty="0"/>
              <a:t> </a:t>
            </a:r>
            <a:r>
              <a:rPr lang="de-DE" i="1" dirty="0" err="1"/>
              <a:t>notebook</a:t>
            </a:r>
            <a:r>
              <a:rPr lang="de-DE" dirty="0"/>
              <a:t> mit den richtigen Einstellungen</a:t>
            </a:r>
          </a:p>
          <a:p>
            <a:pPr lvl="1">
              <a:lnSpc>
                <a:spcPct val="250000"/>
              </a:lnSpc>
            </a:pPr>
            <a:r>
              <a:rPr lang="de-DE" dirty="0"/>
              <a:t>Lädt mein </a:t>
            </a:r>
            <a:r>
              <a:rPr lang="de-DE" dirty="0" err="1"/>
              <a:t>pigpioC</a:t>
            </a:r>
            <a:r>
              <a:rPr lang="de-DE" dirty="0"/>
              <a:t>-Notebook automatisch herunter</a:t>
            </a:r>
          </a:p>
          <a:p>
            <a:pPr>
              <a:lnSpc>
                <a:spcPct val="250000"/>
              </a:lnSpc>
            </a:pPr>
            <a:r>
              <a:rPr lang="de-DE" dirty="0"/>
              <a:t>Auch die Library kann von dem Notebook aus installiert werden</a:t>
            </a:r>
          </a:p>
          <a:p>
            <a:pPr>
              <a:lnSpc>
                <a:spcPct val="200000"/>
              </a:lnSpc>
            </a:pPr>
            <a:endParaRPr lang="de-DE" dirty="0"/>
          </a:p>
          <a:p>
            <a:pPr>
              <a:lnSpc>
                <a:spcPct val="200000"/>
              </a:lnSpc>
            </a:pPr>
            <a:endParaRPr lang="de-DE" dirty="0"/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45274845-4582-CF8A-ABA2-AB50E7AF6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C7D86B26-58F9-CCB4-BDBB-241B0E8F413F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5569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046EA-9F61-9968-0C04-8CC96D98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76BEFE-2E95-1764-B29E-ACFB0F1EC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pigpioC</a:t>
            </a:r>
            <a:endParaRPr lang="de-DE" i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EEC09E-2E1C-5EFC-C54F-2B2673049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de-DE" dirty="0"/>
              <a:t>LED wird zum Blinken gebracht</a:t>
            </a:r>
          </a:p>
          <a:p>
            <a:pPr>
              <a:lnSpc>
                <a:spcPct val="250000"/>
              </a:lnSpc>
            </a:pPr>
            <a:r>
              <a:rPr lang="de-DE" dirty="0"/>
              <a:t>PWM wird demonstriert</a:t>
            </a:r>
          </a:p>
          <a:p>
            <a:pPr>
              <a:lnSpc>
                <a:spcPct val="250000"/>
              </a:lnSpc>
            </a:pPr>
            <a:r>
              <a:rPr lang="de-DE" dirty="0"/>
              <a:t>I²C-Bus wird gezeigt</a:t>
            </a:r>
          </a:p>
          <a:p>
            <a:pPr lvl="1">
              <a:lnSpc>
                <a:spcPct val="250000"/>
              </a:lnSpc>
            </a:pPr>
            <a:r>
              <a:rPr lang="de-DE" dirty="0" err="1"/>
              <a:t>Beschleunigungssenor</a:t>
            </a:r>
            <a:r>
              <a:rPr lang="de-DE" dirty="0"/>
              <a:t> (MPU-9250)</a:t>
            </a:r>
          </a:p>
          <a:p>
            <a:pPr lvl="1">
              <a:lnSpc>
                <a:spcPct val="250000"/>
              </a:lnSpc>
            </a:pPr>
            <a:r>
              <a:rPr lang="de-DE" dirty="0"/>
              <a:t>Temperatursensor (BME280)</a:t>
            </a:r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F9B909D4-4B40-AD94-2BFA-F48D67D39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F7EC8812-172E-50DF-1EBB-29A51123E4EF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5086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BC075-BA04-D0B2-D081-FF9871EB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39056D-20ED-AB2A-59DC-BE263517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pigpioC</a:t>
            </a:r>
            <a:r>
              <a:rPr lang="de-DE" dirty="0"/>
              <a:t> Live Vorstellung</a:t>
            </a:r>
            <a:endParaRPr lang="de-DE" i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D58347-FCD1-17F5-1D03-17F660E05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endParaRPr lang="de-DE" dirty="0"/>
          </a:p>
        </p:txBody>
      </p:sp>
      <p:pic>
        <p:nvPicPr>
          <p:cNvPr id="5" name="Grafik 4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EFC33D48-880D-7269-CA2A-250870900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684BBFC-72ED-DA8E-F48C-632D4D54BD0E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0087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4DF108-04D0-D00F-B06F-F32A7BCB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→ Exkurs: </a:t>
            </a:r>
            <a:r>
              <a:rPr lang="de-DE" dirty="0" err="1"/>
              <a:t>SoS</a:t>
            </a:r>
            <a:r>
              <a:rPr lang="de-DE" dirty="0"/>
              <a:t>-Kernel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6C4DD7-F6B3-6306-DDFA-B29E5F92E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Script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Scripts (</a:t>
            </a:r>
            <a:r>
              <a:rPr lang="de-DE" dirty="0">
                <a:hlinkClick r:id="rId2"/>
              </a:rPr>
              <a:t>https://vatlab.github.io/sos-docs/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Ermöglicht, mehrere Kernels in einem Notebook zu verwenden</a:t>
            </a:r>
          </a:p>
          <a:p>
            <a:pPr lvl="1"/>
            <a:r>
              <a:rPr lang="de-DE" dirty="0" err="1"/>
              <a:t>SoS</a:t>
            </a:r>
            <a:r>
              <a:rPr lang="de-DE" dirty="0"/>
              <a:t>-Kernel → Master-Kernel</a:t>
            </a:r>
          </a:p>
          <a:p>
            <a:pPr lvl="1"/>
            <a:endParaRPr lang="de-DE" dirty="0"/>
          </a:p>
          <a:p>
            <a:r>
              <a:rPr lang="de-DE" dirty="0"/>
              <a:t>Auch dazu gibt es ein Installationsskript /- </a:t>
            </a:r>
            <a:r>
              <a:rPr lang="de-DE" dirty="0" err="1"/>
              <a:t>notebook</a:t>
            </a:r>
            <a:endParaRPr lang="de-DE" dirty="0"/>
          </a:p>
          <a:p>
            <a:pPr lvl="1"/>
            <a:r>
              <a:rPr lang="de-DE" i="1" dirty="0"/>
              <a:t>Docker Image</a:t>
            </a:r>
          </a:p>
          <a:p>
            <a:endParaRPr lang="de-DE" dirty="0"/>
          </a:p>
        </p:txBody>
      </p:sp>
      <p:pic>
        <p:nvPicPr>
          <p:cNvPr id="4" name="Grafik 3" descr="Ein Bild, das Schrift, Grafiken, Logo, weiß enthält.&#10;&#10;KI-generierte Inhalte können fehlerhaft sein.">
            <a:extLst>
              <a:ext uri="{FF2B5EF4-FFF2-40B4-BE49-F238E27FC236}">
                <a16:creationId xmlns:a16="http://schemas.microsoft.com/office/drawing/2014/main" id="{6EE905DB-3B89-B6B3-B7C5-644EF3D0C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439" y="5742241"/>
            <a:ext cx="2467970" cy="1115759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8D3044A5-C847-EF3F-46B4-BA627ACDF2DA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6370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9D98FA-B412-4127-15E3-9FEE30DD7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→ Exkurs: </a:t>
            </a:r>
            <a:r>
              <a:rPr lang="de-DE" dirty="0" err="1"/>
              <a:t>SoS</a:t>
            </a:r>
            <a:r>
              <a:rPr lang="de-DE" dirty="0"/>
              <a:t>-Kernel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99B5251-725B-2642-CE70-7E4E356D9FEB}"/>
              </a:ext>
            </a:extLst>
          </p:cNvPr>
          <p:cNvSpPr/>
          <p:nvPr/>
        </p:nvSpPr>
        <p:spPr>
          <a:xfrm>
            <a:off x="-45397" y="-58365"/>
            <a:ext cx="12308733" cy="428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Inhaltsplatzhalter 13" descr="Ein Bild, das Text, Screenshot, Reihe, Schrift enthält.&#10;&#10;KI-generierte Inhalte können fehlerhaft sein.">
            <a:extLst>
              <a:ext uri="{FF2B5EF4-FFF2-40B4-BE49-F238E27FC236}">
                <a16:creationId xmlns:a16="http://schemas.microsoft.com/office/drawing/2014/main" id="{AA225435-69CB-B6CC-8615-A2C134779A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910" y="2186142"/>
            <a:ext cx="11458180" cy="2485715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8D121BEB-09B9-E7FC-9084-FBE0F632082F}"/>
              </a:ext>
            </a:extLst>
          </p:cNvPr>
          <p:cNvSpPr/>
          <p:nvPr/>
        </p:nvSpPr>
        <p:spPr>
          <a:xfrm>
            <a:off x="10882009" y="2762655"/>
            <a:ext cx="765242" cy="152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343185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Breitbild</PresentationFormat>
  <Paragraphs>93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Fira Code</vt:lpstr>
      <vt:lpstr>Neue Haas Grotesk Text Pro</vt:lpstr>
      <vt:lpstr>VanillaVTI</vt:lpstr>
      <vt:lpstr>Studienarbeit Jupyter Notebooks</vt:lpstr>
      <vt:lpstr>Was sind Jupyter Notebooks?</vt:lpstr>
      <vt:lpstr>Jupyter Notebooks Kernel</vt:lpstr>
      <vt:lpstr>Wie arbeitet man mit Jupyter Notebooks?</vt:lpstr>
      <vt:lpstr>Übersicht erstellter Notebooks</vt:lpstr>
      <vt:lpstr>BenchmarkCPPvsPY</vt:lpstr>
      <vt:lpstr>NetworkingUnix</vt:lpstr>
      <vt:lpstr>SafeCPP</vt:lpstr>
      <vt:lpstr>SmartPtrCPP</vt:lpstr>
      <vt:lpstr>pigpioC</vt:lpstr>
      <vt:lpstr>pigpioC</vt:lpstr>
      <vt:lpstr>pigpioC Live Vorstellung</vt:lpstr>
      <vt:lpstr>→ Exkurs: SoS-Kernel</vt:lpstr>
      <vt:lpstr>→ Exkurs: SoS-Kernel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Tscherkaschin</dc:creator>
  <cp:lastModifiedBy>Daniel Tscherkaschin</cp:lastModifiedBy>
  <cp:revision>6</cp:revision>
  <dcterms:created xsi:type="dcterms:W3CDTF">2025-12-17T16:29:53Z</dcterms:created>
  <dcterms:modified xsi:type="dcterms:W3CDTF">2025-12-18T21:48:28Z</dcterms:modified>
</cp:coreProperties>
</file>